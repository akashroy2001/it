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B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2B859"/>
                </a:solidFill>
                <a:latin typeface="Calibri"/>
              </a:rPr>
              <a:t>MBA (IT &amp; SYSTEMS) · LIVE CLASSROOM DEMONSTRATION ·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E5E7EB"/>
                </a:solidFill>
                <a:latin typeface="Calibri Light"/>
              </a:rPr>
              <a:t>AI Dynamic Pricing &amp;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E5E7EB"/>
                </a:solidFill>
                <a:latin typeface="Calibri Light"/>
              </a:rPr>
              <a:t>Revenue Management Simulator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4206240" cy="38100"/>
          </a:xfrm>
          <a:prstGeom prst="rect">
            <a:avLst/>
          </a:prstGeom>
          <a:solidFill>
            <a:srgbClr val="E2B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Turning revenue-management theory into a decision you can watch happen —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pricing mathematics, a simulated customer market, and an AI that explains every call.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074920"/>
            <a:ext cx="10515600" cy="1005840"/>
          </a:xfrm>
          <a:prstGeom prst="roundRect">
            <a:avLst>
              <a:gd name="adj" fmla="val 6000"/>
            </a:avLst>
          </a:prstGeom>
          <a:solidFill>
            <a:srgbClr val="121620"/>
          </a:solidFill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138928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E2B859"/>
                </a:solidFill>
                <a:latin typeface="Calibri"/>
              </a:rPr>
              <a:t>CASE SETTING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E5E7EB"/>
                </a:solidFill>
                <a:latin typeface="Calibri Light"/>
              </a:rPr>
              <a:t>The Grand Horizon Palace, Mumbai</a:t>
            </a:r>
            <a:r>
              <a:rPr sz="1300" b="0" i="0">
                <a:solidFill>
                  <a:srgbClr val="94A3B8"/>
                </a:solidFill>
                <a:latin typeface="Calibri"/>
              </a:rPr>
              <a:t>   ·  100 rooms · single room type · base rate ₹5,000 · currency INR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384048"/>
          </a:xfrm>
          <a:prstGeom prst="rect">
            <a:avLst/>
          </a:prstGeom>
          <a:solidFill>
            <a:srgbClr val="E2B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2B859"/>
                </a:solidFill>
                <a:latin typeface="Calibri"/>
              </a:rPr>
              <a:t>THE PROBLEM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E5E7EB"/>
                </a:solidFill>
                <a:latin typeface="Calibri Light"/>
              </a:rPr>
              <a:t>Why hotel pricing is hard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572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onsolas"/>
              </a:rPr>
              <a:t>02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261872"/>
            <a:ext cx="10744200" cy="17780"/>
          </a:xfrm>
          <a:prstGeom prst="rect">
            <a:avLst/>
          </a:prstGeom>
          <a:solidFill>
            <a:srgbClr val="23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17320"/>
            <a:ext cx="10744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4A3B8"/>
                </a:solidFill>
                <a:latin typeface="Calibri"/>
              </a:rPr>
              <a:t>A hotel room is perishable inventory on fixed capacity: tonight's unsold room is worth </a:t>
            </a:r>
            <a:r>
              <a:rPr sz="1250" b="1" i="0">
                <a:solidFill>
                  <a:srgbClr val="E2B859"/>
                </a:solidFill>
                <a:latin typeface="Calibri"/>
              </a:rPr>
              <a:t>₹0 at midnight</a:t>
            </a:r>
            <a:r>
              <a:rPr sz="1250" b="0" i="0">
                <a:solidFill>
                  <a:srgbClr val="94A3B8"/>
                </a:solidFill>
                <a:latin typeface="Calibri"/>
              </a:rPr>
              <a:t>, yet the hotel cannot add a floor because a concert came to town. That tension is revenue management.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286000"/>
            <a:ext cx="2587752" cy="2011680"/>
          </a:xfrm>
          <a:prstGeom prst="roundRect">
            <a:avLst>
              <a:gd name="adj" fmla="val 6000"/>
            </a:avLst>
          </a:prstGeom>
          <a:solidFill>
            <a:srgbClr val="121620"/>
          </a:solidFill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50592"/>
            <a:ext cx="218541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2B859"/>
                </a:solidFill>
                <a:latin typeface="Calibri"/>
              </a:rPr>
              <a:t>Demand uncertainty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Only a forecast with a band around it. Pricing for the average empties the hotel in bad weeks.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9856" y="2286000"/>
            <a:ext cx="2587752" cy="2011680"/>
          </a:xfrm>
          <a:prstGeom prst="roundRect">
            <a:avLst>
              <a:gd name="adj" fmla="val 6000"/>
            </a:avLst>
          </a:prstGeom>
          <a:solidFill>
            <a:srgbClr val="121620"/>
          </a:solidFill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1024" y="2450592"/>
            <a:ext cx="218541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2B859"/>
                </a:solidFill>
                <a:latin typeface="Calibri"/>
              </a:rPr>
              <a:t>Time pressure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Willingness to pay shifts as arrival nears — leisure books early on price, business books late on availability.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286000"/>
            <a:ext cx="2587752" cy="2011680"/>
          </a:xfrm>
          <a:prstGeom prst="roundRect">
            <a:avLst>
              <a:gd name="adj" fmla="val 6000"/>
            </a:avLst>
          </a:prstGeom>
          <a:solidFill>
            <a:srgbClr val="121620"/>
          </a:solidFill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450592"/>
            <a:ext cx="218541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2B859"/>
                </a:solidFill>
                <a:latin typeface="Calibri"/>
              </a:rPr>
              <a:t>Competitor pressure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Rates are public. A rival can cut 40% overnight and reshape the conversion curve instantly.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33104" y="2286000"/>
            <a:ext cx="2587752" cy="2011680"/>
          </a:xfrm>
          <a:prstGeom prst="roundRect">
            <a:avLst>
              <a:gd name="adj" fmla="val 6000"/>
            </a:avLst>
          </a:prstGeom>
          <a:solidFill>
            <a:srgbClr val="121620"/>
          </a:solidFill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4272" y="2450592"/>
            <a:ext cx="218541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2B859"/>
                </a:solidFill>
                <a:latin typeface="Calibri"/>
              </a:rPr>
              <a:t>Cost &amp; reputation floors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Below variable cost every sale loses money; far above the market, the brand takes the damage.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709160"/>
            <a:ext cx="10744200" cy="502920"/>
          </a:xfrm>
          <a:prstGeom prst="roundRect">
            <a:avLst>
              <a:gd name="adj" fmla="val 6000"/>
            </a:avLst>
          </a:prstGeom>
          <a:solidFill>
            <a:srgbClr val="161C28"/>
          </a:solidFill>
          <a:ln w="12700">
            <a:solidFill>
              <a:srgbClr val="8A6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709160"/>
            <a:ext cx="10378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2B859"/>
                </a:solidFill>
                <a:latin typeface="Consolas"/>
              </a:rPr>
              <a:t>RevPAR = Occupancy × ADR      Expected revenue = Price × Expected bookings at that price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394960"/>
            <a:ext cx="10744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4A3B8"/>
                </a:solidFill>
                <a:latin typeface="Calibri"/>
              </a:rPr>
              <a:t>Because bookings fall as price rises, expected revenue is </a:t>
            </a:r>
            <a:r>
              <a:rPr sz="1250" b="1" i="0">
                <a:solidFill>
                  <a:srgbClr val="E2B859"/>
                </a:solidFill>
                <a:latin typeface="Calibri"/>
              </a:rPr>
              <a:t>a curve with a peak, not a line</a:t>
            </a:r>
            <a:r>
              <a:rPr sz="1250" b="0" i="0">
                <a:solidFill>
                  <a:srgbClr val="94A3B8"/>
                </a:solidFill>
                <a:latin typeface="Calibri"/>
              </a:rPr>
              <a:t>. The simulator makes that peak visible — and shows how far it moves when one condition changes.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419088"/>
            <a:ext cx="10744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64748B"/>
                </a:solidFill>
                <a:latin typeface="Calibri"/>
              </a:rPr>
              <a:t>The Grand Horizon Palace · AI Dynamic Pricing &amp; Revenue Management Simulator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384048"/>
          </a:xfrm>
          <a:prstGeom prst="rect">
            <a:avLst/>
          </a:prstGeom>
          <a:solidFill>
            <a:srgbClr val="E2B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2B859"/>
                </a:solidFill>
                <a:latin typeface="Calibri"/>
              </a:rPr>
              <a:t>SOLUTION OVERVIEW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E5E7EB"/>
                </a:solidFill>
                <a:latin typeface="Calibri Light"/>
              </a:rPr>
              <a:t>One screen, four zones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572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onsolas"/>
              </a:rPr>
              <a:t>03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261872"/>
            <a:ext cx="10744200" cy="17780"/>
          </a:xfrm>
          <a:prstGeom prst="rect">
            <a:avLst/>
          </a:prstGeom>
          <a:solidFill>
            <a:srgbClr val="23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17320"/>
            <a:ext cx="10744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4A3B8"/>
                </a:solidFill>
                <a:latin typeface="Calibri"/>
              </a:rPr>
              <a:t>A single dashboard so the presenter never navigates away from the decision — three visible zones plus a compliance 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148840"/>
            <a:ext cx="5285232" cy="1737360"/>
          </a:xfrm>
          <a:prstGeom prst="roundRect">
            <a:avLst>
              <a:gd name="adj" fmla="val 6000"/>
            </a:avLst>
          </a:prstGeom>
          <a:solidFill>
            <a:srgbClr val="121620"/>
          </a:solidFill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13432"/>
            <a:ext cx="4882896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2B859"/>
                </a:solidFill>
                <a:latin typeface="Calibri"/>
              </a:rPr>
              <a:t>ZONE 1 — Manager panel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Five sliders, season selector, event switch and four one-click shock presets. Sets up the night, or fires a preset to change the world instantly.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148840"/>
            <a:ext cx="5285232" cy="1737360"/>
          </a:xfrm>
          <a:prstGeom prst="roundRect">
            <a:avLst>
              <a:gd name="adj" fmla="val 6000"/>
            </a:avLst>
          </a:prstGeom>
          <a:solidFill>
            <a:srgbClr val="121620"/>
          </a:solidFill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2313432"/>
            <a:ext cx="4882896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2B859"/>
                </a:solidFill>
                <a:latin typeface="Calibri"/>
              </a:rPr>
              <a:t>ZONE 2 — Recommendation &amp; analytics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Recommended rate, multiplier chain, 14-day forecast, booking pace, the Monte Carlo distribution and the comparison 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059936"/>
            <a:ext cx="5285232" cy="1737360"/>
          </a:xfrm>
          <a:prstGeom prst="roundRect">
            <a:avLst>
              <a:gd name="adj" fmla="val 6000"/>
            </a:avLst>
          </a:prstGeom>
          <a:solidFill>
            <a:srgbClr val="121620"/>
          </a:solidFill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24528"/>
            <a:ext cx="4882896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2B859"/>
                </a:solidFill>
                <a:latin typeface="Calibri"/>
              </a:rPr>
              <a:t>ZONE 3 — Guardrails &amp; AI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Ethical/policy flags plus the Gemini 3 Flash rationale that streams in word by word — the model can be challenged live.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059936"/>
            <a:ext cx="5285232" cy="1737360"/>
          </a:xfrm>
          <a:prstGeom prst="roundRect">
            <a:avLst>
              <a:gd name="adj" fmla="val 6000"/>
            </a:avLst>
          </a:prstGeom>
          <a:solidFill>
            <a:srgbClr val="121620"/>
          </a:solidFill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4224528"/>
            <a:ext cx="4882896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2B859"/>
                </a:solidFill>
                <a:latin typeface="Calibri"/>
              </a:rPr>
              <a:t>ZONE 4 — Warning audit log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A timestamped server-side record of every flag ever raised. Answers: can you prove what the system flagged, and when?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806440"/>
            <a:ext cx="10744200" cy="457200"/>
          </a:xfrm>
          <a:prstGeom prst="roundRect">
            <a:avLst>
              <a:gd name="adj" fmla="val 6000"/>
            </a:avLst>
          </a:prstGeom>
          <a:solidFill>
            <a:srgbClr val="161C28"/>
          </a:solidFill>
          <a:ln w="12700">
            <a:solidFill>
              <a:srgbClr val="8A6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806440"/>
            <a:ext cx="10378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2B859"/>
                </a:solidFill>
                <a:latin typeface="Consolas"/>
              </a:rPr>
              <a:t>Set scenario  →  optimize  →  simulate ×500  →  evaluate guardrails  →  AI explains  →  accept / override &amp; save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6419088"/>
            <a:ext cx="10744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64748B"/>
                </a:solidFill>
                <a:latin typeface="Calibri"/>
              </a:rPr>
              <a:t>The Grand Horizon Palace · AI Dynamic Pricing &amp; Revenue Management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384048"/>
          </a:xfrm>
          <a:prstGeom prst="rect">
            <a:avLst/>
          </a:prstGeom>
          <a:solidFill>
            <a:srgbClr val="E2B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2B859"/>
                </a:solidFill>
                <a:latin typeface="Calibri"/>
              </a:rPr>
              <a:t>THE ENGINE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E5E7EB"/>
                </a:solidFill>
                <a:latin typeface="Calibri Light"/>
              </a:rPr>
              <a:t>How the price is decided — no black 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572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onsolas"/>
              </a:rPr>
              <a:t>04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261872"/>
            <a:ext cx="10744200" cy="17780"/>
          </a:xfrm>
          <a:prstGeom prst="rect">
            <a:avLst/>
          </a:prstGeom>
          <a:solidFill>
            <a:srgbClr val="23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463040"/>
            <a:ext cx="10744200" cy="502920"/>
          </a:xfrm>
          <a:prstGeom prst="roundRect">
            <a:avLst>
              <a:gd name="adj" fmla="val 6000"/>
            </a:avLst>
          </a:prstGeom>
          <a:solidFill>
            <a:srgbClr val="161C28"/>
          </a:solidFill>
          <a:ln w="12700">
            <a:solidFill>
              <a:srgbClr val="8A6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463040"/>
            <a:ext cx="10378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2B859"/>
                </a:solidFill>
                <a:latin typeface="Consolas"/>
              </a:rPr>
              <a:t>Formula price = BaseRate × Season × Demand × Scarcity × Competitor × LeadTime × Event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194560"/>
            <a:ext cx="3493008" cy="2148840"/>
          </a:xfrm>
          <a:prstGeom prst="roundRect">
            <a:avLst>
              <a:gd name="adj" fmla="val 6000"/>
            </a:avLst>
          </a:prstGeom>
          <a:solidFill>
            <a:srgbClr val="121620"/>
          </a:solidFill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59152"/>
            <a:ext cx="3090672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2B859"/>
                </a:solidFill>
                <a:latin typeface="Calibri"/>
              </a:rPr>
              <a:t>1 · Multiplier chain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E5E7EB"/>
                </a:solidFill>
                <a:latin typeface="Calibri"/>
              </a:rPr>
              <a:t>Base ₹5,000  </a:t>
            </a:r>
            <a:r>
              <a:rPr sz="1000" b="0" i="0">
                <a:solidFill>
                  <a:srgbClr val="94A3B8"/>
                </a:solidFill>
                <a:latin typeface="Calibri"/>
              </a:rPr>
              <a:t>adjusted by seven independent factors, each answering one business question.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E5E7EB"/>
                </a:solidFill>
                <a:latin typeface="Calibri"/>
              </a:rPr>
              <a:t>Demand damped:  </a:t>
            </a:r>
            <a:r>
              <a:rPr sz="1000" b="0" i="0">
                <a:solidFill>
                  <a:srgbClr val="94A3B8"/>
                </a:solidFill>
                <a:latin typeface="Calibri"/>
              </a:rPr>
              <a:t>only 40% of the movement passes to price, capped at 1.40.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E5E7EB"/>
                </a:solidFill>
                <a:latin typeface="Calibri"/>
              </a:rPr>
              <a:t>Scarcity convex:  </a:t>
            </a:r>
            <a:r>
              <a:rPr sz="1000" b="0" i="0">
                <a:solidFill>
                  <a:srgbClr val="94A3B8"/>
                </a:solidFill>
                <a:latin typeface="Calibri"/>
              </a:rPr>
              <a:t>the last rooms move the rate sharply, the first barely at 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2194560"/>
            <a:ext cx="3493008" cy="2148840"/>
          </a:xfrm>
          <a:prstGeom prst="roundRect">
            <a:avLst>
              <a:gd name="adj" fmla="val 6000"/>
            </a:avLst>
          </a:prstGeom>
          <a:solidFill>
            <a:srgbClr val="121620"/>
          </a:solidFill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2359152"/>
            <a:ext cx="3090672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2B859"/>
                </a:solidFill>
                <a:latin typeface="Calibri"/>
              </a:rPr>
              <a:t>2 · Revenue-max search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E5E7EB"/>
                </a:solidFill>
                <a:latin typeface="Calibri"/>
              </a:rPr>
              <a:t>Grid ±30%  </a:t>
            </a:r>
            <a:r>
              <a:rPr sz="1000" b="0" i="0">
                <a:solidFill>
                  <a:srgbClr val="94A3B8"/>
                </a:solidFill>
                <a:latin typeface="Calibri"/>
              </a:rPr>
              <a:t>around the formula price in ₹50 steps.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E5E7EB"/>
                </a:solidFill>
                <a:latin typeface="Calibri"/>
              </a:rPr>
              <a:t>argmax  </a:t>
            </a:r>
            <a:r>
              <a:rPr sz="1000" b="0" i="0">
                <a:solidFill>
                  <a:srgbClr val="94A3B8"/>
                </a:solidFill>
                <a:latin typeface="Calibri"/>
              </a:rPr>
              <a:t>Price × expected bookings — the money-maximising rate, not the highest legal one.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E5E7EB"/>
                </a:solidFill>
                <a:latin typeface="Calibri"/>
              </a:rPr>
              <a:t>Constraint:  </a:t>
            </a:r>
            <a:r>
              <a:rPr sz="1000" b="0" i="0">
                <a:solidFill>
                  <a:srgbClr val="94A3B8"/>
                </a:solidFill>
                <a:latin typeface="Calibri"/>
              </a:rPr>
              <a:t>must fill ≥75% of remaining rooms.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2194560"/>
            <a:ext cx="3493008" cy="2148840"/>
          </a:xfrm>
          <a:prstGeom prst="roundRect">
            <a:avLst>
              <a:gd name="adj" fmla="val 6000"/>
            </a:avLst>
          </a:prstGeom>
          <a:solidFill>
            <a:srgbClr val="121620"/>
          </a:solidFill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2359152"/>
            <a:ext cx="3090672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2B859"/>
                </a:solidFill>
                <a:latin typeface="Calibri"/>
              </a:rPr>
              <a:t>3 · Hard rules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E5E7EB"/>
                </a:solidFill>
                <a:latin typeface="Calibri"/>
              </a:rPr>
              <a:t>Floor / ceiling:  </a:t>
            </a:r>
            <a:r>
              <a:rPr sz="1000" b="0" i="0">
                <a:solidFill>
                  <a:srgbClr val="94A3B8"/>
                </a:solidFill>
                <a:latin typeface="Calibri"/>
              </a:rPr>
              <a:t>0.2× to 3.0× base (₹1,000–₹15,000).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E5E7EB"/>
                </a:solidFill>
                <a:latin typeface="Calibri"/>
              </a:rPr>
              <a:t>Cost floor:  </a:t>
            </a:r>
            <a:r>
              <a:rPr sz="1000" b="0" i="0">
                <a:solidFill>
                  <a:srgbClr val="94A3B8"/>
                </a:solidFill>
                <a:latin typeface="Calibri"/>
              </a:rPr>
              <a:t>₹1,200 variable cost per occupied room.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E5E7EB"/>
                </a:solidFill>
                <a:latin typeface="Calibri"/>
              </a:rPr>
              <a:t>Below that  </a:t>
            </a:r>
            <a:r>
              <a:rPr sz="1000" b="0" i="0">
                <a:solidFill>
                  <a:srgbClr val="94A3B8"/>
                </a:solidFill>
                <a:latin typeface="Calibri"/>
              </a:rPr>
              <a:t>raises a warning — an empty room becomes a loss-making 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617720"/>
            <a:ext cx="10744200" cy="502920"/>
          </a:xfrm>
          <a:prstGeom prst="roundRect">
            <a:avLst>
              <a:gd name="adj" fmla="val 6000"/>
            </a:avLst>
          </a:prstGeom>
          <a:solidFill>
            <a:srgbClr val="161C28"/>
          </a:solidFill>
          <a:ln w="12700">
            <a:solidFill>
              <a:srgbClr val="8A6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617720"/>
            <a:ext cx="10378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2B859"/>
                </a:solidFill>
                <a:latin typeface="Consolas"/>
              </a:rPr>
              <a:t>Recommended price = argmax over candidates ( Price × Expected bookings at that price 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303520"/>
            <a:ext cx="10744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2B859"/>
                </a:solidFill>
                <a:latin typeface="Calibri"/>
              </a:rPr>
              <a:t>The key idea: </a:t>
            </a:r>
            <a:r>
              <a:rPr sz="1250" b="0" i="0">
                <a:solidFill>
                  <a:srgbClr val="94A3B8"/>
                </a:solidFill>
                <a:latin typeface="Calibri"/>
              </a:rPr>
              <a:t>the recommendation is where the rate-vs-volume trade-off makes the most money. Raising further is rejected by the optimizer itself — not by a policy.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6419088"/>
            <a:ext cx="10744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64748B"/>
                </a:solidFill>
                <a:latin typeface="Calibri"/>
              </a:rPr>
              <a:t>The Grand Horizon Palace · AI Dynamic Pricing &amp; Revenue Management Simulator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384048"/>
          </a:xfrm>
          <a:prstGeom prst="rect">
            <a:avLst/>
          </a:prstGeom>
          <a:solidFill>
            <a:srgbClr val="E2B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2B859"/>
                </a:solidFill>
                <a:latin typeface="Calibri"/>
              </a:rPr>
              <a:t>WORKED EXAMPLE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E5E7EB"/>
                </a:solidFill>
                <a:latin typeface="Calibri Light"/>
              </a:rPr>
              <a:t>“Concert in Town” — reproducible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572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onsolas"/>
              </a:rPr>
              <a:t>05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261872"/>
            <a:ext cx="10744200" cy="17780"/>
          </a:xfrm>
          <a:prstGeom prst="rect">
            <a:avLst/>
          </a:prstGeom>
          <a:solidFill>
            <a:srgbClr val="23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463040"/>
            <a:ext cx="5577840" cy="2148840"/>
          </a:xfrm>
          <a:prstGeom prst="roundRect">
            <a:avLst>
              <a:gd name="adj" fmla="val 6000"/>
            </a:avLst>
          </a:prstGeom>
          <a:solidFill>
            <a:srgbClr val="121620"/>
          </a:solidFill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5175504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2B859"/>
                </a:solidFill>
                <a:latin typeface="Calibri"/>
              </a:rPr>
              <a:t>Scenario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E5E7EB"/>
                </a:solidFill>
                <a:latin typeface="Calibri"/>
              </a:rPr>
              <a:t>Demand 175  </a:t>
            </a:r>
            <a:r>
              <a:rPr sz="1100" b="0" i="0">
                <a:solidFill>
                  <a:srgbClr val="94A3B8"/>
                </a:solidFill>
                <a:latin typeface="Calibri"/>
              </a:rPr>
              <a:t>market 75% hotter than normal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E5E7EB"/>
                </a:solidFill>
                <a:latin typeface="Calibri"/>
              </a:rPr>
              <a:t>35 rooms left  </a:t>
            </a:r>
            <a:r>
              <a:rPr sz="1100" b="0" i="0">
                <a:solidFill>
                  <a:srgbClr val="94A3B8"/>
                </a:solidFill>
                <a:latin typeface="Calibri"/>
              </a:rPr>
              <a:t>two-thirds already sold · 5 days out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E5E7EB"/>
                </a:solidFill>
                <a:latin typeface="Calibri"/>
              </a:rPr>
              <a:t>Competitor ₹8,200  </a:t>
            </a:r>
            <a:r>
              <a:rPr sz="1100" b="0" i="0">
                <a:solidFill>
                  <a:srgbClr val="94A3B8"/>
                </a:solidFill>
                <a:latin typeface="Calibri"/>
              </a:rPr>
              <a:t>market already repriced · event 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794760"/>
            <a:ext cx="5577840" cy="502920"/>
          </a:xfrm>
          <a:prstGeom prst="roundRect">
            <a:avLst>
              <a:gd name="adj" fmla="val 6000"/>
            </a:avLst>
          </a:prstGeom>
          <a:solidFill>
            <a:srgbClr val="161C28"/>
          </a:solidFill>
          <a:ln w="12700">
            <a:solidFill>
              <a:srgbClr val="8A6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794760"/>
            <a:ext cx="5212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2B859"/>
                </a:solidFill>
                <a:latin typeface="Consolas"/>
              </a:rPr>
              <a:t>₹5,000 ×1.00 ×1.30 ×1.211 ×1.192 ×1.08 ×1.20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389120"/>
            <a:ext cx="5577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E5E7EB"/>
                </a:solidFill>
                <a:latin typeface="Calibri"/>
              </a:rPr>
              <a:t>Formula price ₹12,160</a:t>
            </a:r>
            <a:r>
              <a:rPr sz="1300" b="0" i="0">
                <a:solidFill>
                  <a:srgbClr val="94A3B8"/>
                </a:solidFill>
                <a:latin typeface="Calibri"/>
              </a:rPr>
              <a:t>  →  </a:t>
            </a:r>
            <a:r>
              <a:rPr sz="1500" b="1" i="0">
                <a:solidFill>
                  <a:srgbClr val="E2B859"/>
                </a:solidFill>
                <a:latin typeface="Calibri"/>
              </a:rPr>
              <a:t>recommended ₹12,412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1">
                <a:solidFill>
                  <a:srgbClr val="94A3B8"/>
                </a:solidFill>
                <a:latin typeface="Calibri"/>
              </a:rPr>
              <a:t>with only 35 rooms left, the hotel still sells out at the higher rate.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463040"/>
            <a:ext cx="4965192" cy="3794760"/>
          </a:xfrm>
          <a:prstGeom prst="roundRect">
            <a:avLst>
              <a:gd name="adj" fmla="val 6000"/>
            </a:avLst>
          </a:prstGeom>
          <a:solidFill>
            <a:srgbClr val="121620"/>
          </a:solidFill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408" y="157276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2B859"/>
                </a:solidFill>
                <a:latin typeface="Calibri"/>
              </a:rPr>
              <a:t>WHY THE HIGHER RATE WINS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8" y="201168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2B859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011680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2B859"/>
                </a:solidFill>
                <a:latin typeface="Calibri"/>
              </a:rPr>
              <a:t>Current ₹5,000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5560" y="2011680"/>
            <a:ext cx="1143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2B859"/>
                </a:solidFill>
                <a:latin typeface="Calibri"/>
              </a:rPr>
              <a:t>Rec ₹12,412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93408" y="2331720"/>
            <a:ext cx="4480560" cy="12700"/>
          </a:xfrm>
          <a:prstGeom prst="rect">
            <a:avLst/>
          </a:prstGeom>
          <a:solidFill>
            <a:srgbClr val="23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3408" y="257860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Leisure conversion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578608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5E7EB"/>
                </a:solidFill>
                <a:latin typeface="Consolas"/>
              </a:rPr>
              <a:t>93.3%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5560" y="2578608"/>
            <a:ext cx="1143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5E7EB"/>
                </a:solidFill>
                <a:latin typeface="Consolas"/>
              </a:rPr>
              <a:t>31.4%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8" y="3145536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Business conversion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3145536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5E7EB"/>
                </a:solidFill>
                <a:latin typeface="Consolas"/>
              </a:rPr>
              <a:t>87.9%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3145536"/>
            <a:ext cx="1143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5E7EB"/>
                </a:solidFill>
                <a:latin typeface="Consolas"/>
              </a:rPr>
              <a:t>52.4%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3712464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Expected bookings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3712464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5E7EB"/>
                </a:solidFill>
                <a:latin typeface="Consolas"/>
              </a:rPr>
              <a:t>35.0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5560" y="3712464"/>
            <a:ext cx="1143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5E7EB"/>
                </a:solidFill>
                <a:latin typeface="Consolas"/>
              </a:rPr>
              <a:t>35.0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3408" y="427939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Expected revenue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4279392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5E7EB"/>
                </a:solidFill>
                <a:latin typeface="Consolas"/>
              </a:rPr>
              <a:t>₹1.75 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4279392"/>
            <a:ext cx="1143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2B859"/>
                </a:solidFill>
                <a:latin typeface="Consolas"/>
              </a:rPr>
              <a:t>₹4.34 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3408" y="48006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E2B859"/>
                </a:solidFill>
                <a:latin typeface="Calibri"/>
              </a:rPr>
              <a:t>Teaching point: </a:t>
            </a:r>
            <a:r>
              <a:rPr sz="1050" b="0" i="1">
                <a:solidFill>
                  <a:srgbClr val="94A3B8"/>
                </a:solidFill>
                <a:latin typeface="Calibri"/>
              </a:rPr>
              <a:t>conversion collapses, yet only 35 bookings are needed — so the rate rise is correct.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6419088"/>
            <a:ext cx="10744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64748B"/>
                </a:solidFill>
                <a:latin typeface="Calibri"/>
              </a:rPr>
              <a:t>The Grand Horizon Palace · AI Dynamic Pricing &amp; Revenue Management Simulator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384048"/>
          </a:xfrm>
          <a:prstGeom prst="rect">
            <a:avLst/>
          </a:prstGeom>
          <a:solidFill>
            <a:srgbClr val="E2B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2B859"/>
                </a:solidFill>
                <a:latin typeface="Calibri"/>
              </a:rPr>
              <a:t>THE MARKET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E5E7EB"/>
                </a:solidFill>
                <a:latin typeface="Calibri Light"/>
              </a:rPr>
              <a:t>How customers are modelled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572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onsolas"/>
              </a:rPr>
              <a:t>06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261872"/>
            <a:ext cx="10744200" cy="17780"/>
          </a:xfrm>
          <a:prstGeom prst="rect">
            <a:avLst/>
          </a:prstGeom>
          <a:solidFill>
            <a:srgbClr val="23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17320"/>
            <a:ext cx="10744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4A3B8"/>
                </a:solidFill>
                <a:latin typeface="Calibri"/>
              </a:rPr>
              <a:t>Two segments, because one “average guest” hides the most interesting behaviour in hotel pricing.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57400"/>
            <a:ext cx="5285232" cy="1691640"/>
          </a:xfrm>
          <a:prstGeom prst="roundRect">
            <a:avLst>
              <a:gd name="adj" fmla="val 6000"/>
            </a:avLst>
          </a:prstGeom>
          <a:solidFill>
            <a:srgbClr val="121620"/>
          </a:solidFill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21992"/>
            <a:ext cx="488289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2B859"/>
                </a:solidFill>
                <a:latin typeface="Calibri"/>
              </a:rPr>
              <a:t>Leisure · 60% of demand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E5E7EB"/>
                </a:solidFill>
                <a:latin typeface="Calibri"/>
              </a:rPr>
              <a:t>Sensitivity k ≈ 4.5  </a:t>
            </a:r>
            <a:r>
              <a:rPr sz="1100" b="0" i="0">
                <a:solidFill>
                  <a:srgbClr val="94A3B8"/>
                </a:solidFill>
                <a:latin typeface="Calibri"/>
              </a:rPr>
              <a:t>a cliff — a 20% premium destroys most bookings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E5E7EB"/>
                </a:solidFill>
                <a:latin typeface="Calibri"/>
              </a:rPr>
              <a:t>Books early  </a:t>
            </a:r>
            <a:r>
              <a:rPr sz="1100" b="0" i="0">
                <a:solidFill>
                  <a:srgbClr val="94A3B8"/>
                </a:solidFill>
                <a:latin typeface="Calibri"/>
              </a:rPr>
              <a:t>compares hotels, walks when the rate beats the market reference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057400"/>
            <a:ext cx="5285232" cy="1691640"/>
          </a:xfrm>
          <a:prstGeom prst="roundRect">
            <a:avLst>
              <a:gd name="adj" fmla="val 6000"/>
            </a:avLst>
          </a:prstGeom>
          <a:solidFill>
            <a:srgbClr val="121620"/>
          </a:solidFill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2221992"/>
            <a:ext cx="488289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2B859"/>
                </a:solidFill>
                <a:latin typeface="Calibri"/>
              </a:rPr>
              <a:t>Business · 40% of demand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E5E7EB"/>
                </a:solidFill>
                <a:latin typeface="Calibri"/>
              </a:rPr>
              <a:t>Sensitivity k ≈ 1.8  </a:t>
            </a:r>
            <a:r>
              <a:rPr sz="1100" b="0" i="0">
                <a:solidFill>
                  <a:srgbClr val="94A3B8"/>
                </a:solidFill>
                <a:latin typeface="Calibri"/>
              </a:rPr>
              <a:t>a slope — the same premium costs few bookings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E5E7EB"/>
                </a:solidFill>
                <a:latin typeface="Calibri"/>
              </a:rPr>
              <a:t>Books late  </a:t>
            </a:r>
            <a:r>
              <a:rPr sz="1100" b="0" i="0">
                <a:solidFill>
                  <a:srgbClr val="94A3B8"/>
                </a:solidFill>
                <a:latin typeface="Calibri"/>
              </a:rPr>
              <a:t>needs a room on a date; hardens to k≈1.2 inside three days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977639"/>
            <a:ext cx="10744200" cy="502920"/>
          </a:xfrm>
          <a:prstGeom prst="roundRect">
            <a:avLst>
              <a:gd name="adj" fmla="val 6000"/>
            </a:avLst>
          </a:prstGeom>
          <a:solidFill>
            <a:srgbClr val="161C28"/>
          </a:solidFill>
          <a:ln w="12700">
            <a:solidFill>
              <a:srgbClr val="8A6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977639"/>
            <a:ext cx="10378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2B859"/>
                </a:solidFill>
                <a:latin typeface="Consolas"/>
              </a:rPr>
              <a:t>Conversion(P) = 2·Baseline ÷ ( 1 + exp( k·(P÷Reference − 1) ) )     bounded 2%–95%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617720"/>
            <a:ext cx="10744200" cy="502920"/>
          </a:xfrm>
          <a:prstGeom prst="roundRect">
            <a:avLst>
              <a:gd name="adj" fmla="val 6000"/>
            </a:avLst>
          </a:prstGeom>
          <a:solidFill>
            <a:srgbClr val="161C28"/>
          </a:solidFill>
          <a:ln w="12700">
            <a:solidFill>
              <a:srgbClr val="8A6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617720"/>
            <a:ext cx="10378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2B859"/>
                </a:solidFill>
                <a:latin typeface="Consolas"/>
              </a:rPr>
              <a:t>Reference = (0.5·Competitor + 0.5·Base) × 1.15 × SeasonDemand × Event × Scarcity × Urgency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349240"/>
            <a:ext cx="10744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4A3B8"/>
                </a:solidFill>
                <a:latin typeface="Calibri"/>
              </a:rPr>
              <a:t>The single parameter </a:t>
            </a:r>
            <a:r>
              <a:rPr sz="1250" b="1" i="0">
                <a:solidFill>
                  <a:srgbClr val="E2B859"/>
                </a:solidFill>
                <a:latin typeface="Consolas"/>
              </a:rPr>
              <a:t>k</a:t>
            </a:r>
            <a:r>
              <a:rPr sz="1250" b="0" i="0">
                <a:solidFill>
                  <a:srgbClr val="94A3B8"/>
                </a:solidFill>
                <a:latin typeface="Calibri"/>
              </a:rPr>
              <a:t> is what makes business demand profitable to price into and leisure demand dangerous to price into.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419088"/>
            <a:ext cx="10744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64748B"/>
                </a:solidFill>
                <a:latin typeface="Calibri"/>
              </a:rPr>
              <a:t>The Grand Horizon Palace · AI Dynamic Pricing &amp; Revenue Management Simulator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384048"/>
          </a:xfrm>
          <a:prstGeom prst="rect">
            <a:avLst/>
          </a:prstGeom>
          <a:solidFill>
            <a:srgbClr val="E2B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2B859"/>
                </a:solidFill>
                <a:latin typeface="Calibri"/>
              </a:rPr>
              <a:t>CONFIDENCE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E5E7EB"/>
                </a:solidFill>
                <a:latin typeface="Calibri Light"/>
              </a:rPr>
              <a:t>The Monte Carlo simulation — 500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572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onsolas"/>
              </a:rPr>
              <a:t>07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261872"/>
            <a:ext cx="10744200" cy="17780"/>
          </a:xfrm>
          <a:prstGeom prst="rect">
            <a:avLst/>
          </a:prstGeom>
          <a:solidFill>
            <a:srgbClr val="23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17320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One revenue number implies a certainty that does not exist. So the night is run 500 times with random variation.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148840"/>
            <a:ext cx="5852160" cy="1874519"/>
          </a:xfrm>
          <a:prstGeom prst="roundRect">
            <a:avLst>
              <a:gd name="adj" fmla="val 6000"/>
            </a:avLst>
          </a:prstGeom>
          <a:solidFill>
            <a:srgbClr val="121620"/>
          </a:solidFill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13432"/>
            <a:ext cx="5449824" cy="1600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2B859"/>
                </a:solidFill>
                <a:latin typeface="Calibri"/>
              </a:rPr>
              <a:t>What varies each run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E5E7EB"/>
                </a:solidFill>
                <a:latin typeface="Calibri"/>
              </a:rPr>
              <a:t>Demand volume  </a:t>
            </a:r>
            <a:r>
              <a:rPr sz="1050" b="0" i="0">
                <a:solidFill>
                  <a:srgbClr val="94A3B8"/>
                </a:solidFill>
                <a:latin typeface="Calibri"/>
              </a:rPr>
              <a:t>Poisson arrivals × log-normal noise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E5E7EB"/>
                </a:solidFill>
                <a:latin typeface="Calibri"/>
              </a:rPr>
              <a:t>Conversion  </a:t>
            </a:r>
            <a:r>
              <a:rPr sz="1050" b="0" i="0">
                <a:solidFill>
                  <a:srgbClr val="94A3B8"/>
                </a:solidFill>
                <a:latin typeface="Calibri"/>
              </a:rPr>
              <a:t>perturbed ±12% around the curve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E5E7EB"/>
                </a:solidFill>
                <a:latin typeface="Calibri"/>
              </a:rPr>
              <a:t>Booking outcome  </a:t>
            </a:r>
            <a:r>
              <a:rPr sz="1050" b="0" i="0">
                <a:solidFill>
                  <a:srgbClr val="94A3B8"/>
                </a:solidFill>
                <a:latin typeface="Calibri"/>
              </a:rPr>
              <a:t>each guest a binomial book / no-book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E5E7EB"/>
                </a:solidFill>
                <a:latin typeface="Calibri"/>
              </a:rPr>
              <a:t>Capacity  </a:t>
            </a:r>
            <a:r>
              <a:rPr sz="1050" b="0" i="0">
                <a:solidFill>
                  <a:srgbClr val="94A3B8"/>
                </a:solidFill>
                <a:latin typeface="Calibri"/>
              </a:rPr>
              <a:t>capped at rooms actually 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4160520"/>
            <a:ext cx="5852160" cy="1828800"/>
          </a:xfrm>
          <a:prstGeom prst="roundRect">
            <a:avLst>
              <a:gd name="adj" fmla="val 6000"/>
            </a:avLst>
          </a:prstGeom>
          <a:solidFill>
            <a:srgbClr val="121620"/>
          </a:solidFill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25112"/>
            <a:ext cx="5449824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2B859"/>
                </a:solidFill>
                <a:latin typeface="Calibri"/>
              </a:rPr>
              <a:t>Reading the output (worked example)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E5E7EB"/>
                </a:solidFill>
                <a:latin typeface="Calibri"/>
              </a:rPr>
              <a:t>P10 / P50 / P90  </a:t>
            </a:r>
            <a:r>
              <a:rPr sz="1050" b="0" i="0">
                <a:solidFill>
                  <a:srgbClr val="94A3B8"/>
                </a:solidFill>
                <a:latin typeface="Calibri"/>
              </a:rPr>
              <a:t>₹3.10 L · ₹4.34 L · ₹4.34 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E5E7EB"/>
                </a:solidFill>
                <a:latin typeface="Calibri"/>
              </a:rPr>
              <a:t>P10=P90  </a:t>
            </a:r>
            <a:r>
              <a:rPr sz="1050" b="0" i="0">
                <a:solidFill>
                  <a:srgbClr val="94A3B8"/>
                </a:solidFill>
                <a:latin typeface="Calibri"/>
              </a:rPr>
              <a:t>signature of a capacity-constrained, sell-out night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E5E7EB"/>
                </a:solidFill>
                <a:latin typeface="Calibri"/>
              </a:rPr>
              <a:t>Sell-out probability 51%  </a:t>
            </a:r>
            <a:r>
              <a:rPr sz="1050" b="0" i="0">
                <a:solidFill>
                  <a:srgbClr val="94A3B8"/>
                </a:solidFill>
                <a:latin typeface="Calibri"/>
              </a:rPr>
              <a:t>the honest answer to “will this work?”</a:t>
            </a:r>
          </a:p>
        </p:txBody>
      </p:sp>
      <p:pic>
        <p:nvPicPr>
          <p:cNvPr id="12" name="Picture 11" descr="doc_montecar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554480"/>
            <a:ext cx="4663440" cy="209640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812280" y="1554480"/>
            <a:ext cx="4663440" cy="2096409"/>
          </a:xfrm>
          <a:prstGeom prst="rect">
            <a:avLst/>
          </a:prstGeom>
          <a:noFill/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3687465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64748B"/>
                </a:solidFill>
                <a:latin typeface="Calibri"/>
              </a:rPr>
              <a:t>500-run revenue distribution with P10 / P50 / P90 markers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419088"/>
            <a:ext cx="10744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64748B"/>
                </a:solidFill>
                <a:latin typeface="Calibri"/>
              </a:rPr>
              <a:t>The Grand Horizon Palace · AI Dynamic Pricing &amp; Revenue Management Simulator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384048"/>
          </a:xfrm>
          <a:prstGeom prst="rect">
            <a:avLst/>
          </a:prstGeom>
          <a:solidFill>
            <a:srgbClr val="E2B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2B859"/>
                </a:solidFill>
                <a:latin typeface="Calibri"/>
              </a:rPr>
              <a:t>TIMING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E5E7EB"/>
                </a:solidFill>
                <a:latin typeface="Calibri Light"/>
              </a:rPr>
              <a:t>Forecasting &amp; booking 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572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onsolas"/>
              </a:rPr>
              <a:t>08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261872"/>
            <a:ext cx="10744200" cy="17780"/>
          </a:xfrm>
          <a:prstGeom prst="rect">
            <a:avLst/>
          </a:prstGeom>
          <a:solidFill>
            <a:srgbClr val="23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463040"/>
            <a:ext cx="5577840" cy="1920240"/>
          </a:xfrm>
          <a:prstGeom prst="roundRect">
            <a:avLst>
              <a:gd name="adj" fmla="val 6000"/>
            </a:avLst>
          </a:prstGeom>
          <a:solidFill>
            <a:srgbClr val="121620"/>
          </a:solidFill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5175504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2B859"/>
                </a:solidFill>
                <a:latin typeface="Calibri"/>
              </a:rPr>
              <a:t>14-day demand forecast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E5E7EB"/>
                </a:solidFill>
                <a:latin typeface="Calibri"/>
              </a:rPr>
              <a:t>Seasonal wave × day-of-week + noise  </a:t>
            </a:r>
            <a:r>
              <a:rPr sz="1100" b="0" i="0">
                <a:solidFill>
                  <a:srgbClr val="94A3B8"/>
                </a:solidFill>
                <a:latin typeface="Calibri"/>
              </a:rPr>
              <a:t>365 seeded days projected forward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E5E7EB"/>
                </a:solidFill>
                <a:latin typeface="Calibri"/>
              </a:rPr>
              <a:t>The band widens ~1.2 pts/day out  </a:t>
            </a:r>
            <a:r>
              <a:rPr sz="1100" b="0" i="0">
                <a:solidFill>
                  <a:srgbClr val="94A3B8"/>
                </a:solidFill>
                <a:latin typeface="Calibri"/>
              </a:rPr>
              <a:t>a forecast is a cone, not a line — decisions 14 days out deserve less conviction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520440"/>
            <a:ext cx="5577840" cy="2468880"/>
          </a:xfrm>
          <a:prstGeom prst="roundRect">
            <a:avLst>
              <a:gd name="adj" fmla="val 6000"/>
            </a:avLst>
          </a:prstGeom>
          <a:solidFill>
            <a:srgbClr val="121620"/>
          </a:solidFill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85032"/>
            <a:ext cx="5175504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2B859"/>
                </a:solidFill>
                <a:latin typeface="Calibri"/>
              </a:rPr>
              <a:t>Booking pace · pickup model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E5E7EB"/>
                </a:solidFill>
                <a:latin typeface="Calibri"/>
              </a:rPr>
              <a:t>Expected share = 100·e^(−Days÷12)  </a:t>
            </a:r>
            <a:r>
              <a:rPr sz="1050" b="0" i="0">
                <a:solidFill>
                  <a:srgbClr val="94A3B8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E5E7EB"/>
                </a:solidFill>
                <a:latin typeface="Calibri"/>
              </a:rPr>
              <a:t>Pace index = Actual ÷ Expected  </a:t>
            </a:r>
            <a:r>
              <a:rPr sz="1050" b="0" i="0">
                <a:solidFill>
                  <a:srgbClr val="94A3B8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E5E7EB"/>
                </a:solidFill>
                <a:latin typeface="Calibri"/>
              </a:rPr>
              <a:t>&gt; 1.1  ahead of pace  </a:t>
            </a:r>
            <a:r>
              <a:rPr sz="1050" b="0" i="0">
                <a:solidFill>
                  <a:srgbClr val="94A3B8"/>
                </a:solidFill>
                <a:latin typeface="Calibri"/>
              </a:rPr>
              <a:t>sell faster — hold or push the rate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E5E7EB"/>
                </a:solidFill>
                <a:latin typeface="Calibri"/>
              </a:rPr>
              <a:t>~ 1.0  on the books  </a:t>
            </a:r>
            <a:r>
              <a:rPr sz="1050" b="0" i="0">
                <a:solidFill>
                  <a:srgbClr val="94A3B8"/>
                </a:solidFill>
                <a:latin typeface="Calibri"/>
              </a:rPr>
              <a:t>the rate is roughly right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E5E7EB"/>
                </a:solidFill>
                <a:latin typeface="Calibri"/>
              </a:rPr>
              <a:t>&lt; 0.9  behind pace  </a:t>
            </a:r>
            <a:r>
              <a:rPr sz="1050" b="0" i="0">
                <a:solidFill>
                  <a:srgbClr val="94A3B8"/>
                </a:solidFill>
                <a:latin typeface="Calibri"/>
              </a:rPr>
              <a:t>cut the rate or add promotion</a:t>
            </a:r>
          </a:p>
        </p:txBody>
      </p:sp>
      <p:pic>
        <p:nvPicPr>
          <p:cNvPr id="11" name="Picture 10" descr="doc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11680"/>
            <a:ext cx="4892040" cy="175597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583680" y="2011680"/>
            <a:ext cx="4892040" cy="1755973"/>
          </a:xfrm>
          <a:prstGeom prst="rect">
            <a:avLst/>
          </a:prstGeom>
          <a:noFill/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804229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64748B"/>
                </a:solidFill>
                <a:latin typeface="Calibri"/>
              </a:rPr>
              <a:t>14-day forecast cone (left) and the pickup pace curve (right)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6419088"/>
            <a:ext cx="10744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64748B"/>
                </a:solidFill>
                <a:latin typeface="Calibri"/>
              </a:rPr>
              <a:t>The Grand Horizon Palace · AI Dynamic Pricing &amp; Revenue Management Simulator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384048"/>
          </a:xfrm>
          <a:prstGeom prst="rect">
            <a:avLst/>
          </a:prstGeom>
          <a:solidFill>
            <a:srgbClr val="E2B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2B859"/>
                </a:solidFill>
                <a:latin typeface="Calibri"/>
              </a:rPr>
              <a:t>RESPONSIBILITY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E5E7EB"/>
                </a:solidFill>
                <a:latin typeface="Calibri Light"/>
              </a:rPr>
              <a:t>Ethical &amp; policy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572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onsolas"/>
              </a:rPr>
              <a:t>09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261872"/>
            <a:ext cx="10744200" cy="17780"/>
          </a:xfrm>
          <a:prstGeom prst="rect">
            <a:avLst/>
          </a:prstGeom>
          <a:solidFill>
            <a:srgbClr val="23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463040"/>
            <a:ext cx="2587752" cy="1828800"/>
          </a:xfrm>
          <a:prstGeom prst="roundRect">
            <a:avLst>
              <a:gd name="adj" fmla="val 6000"/>
            </a:avLst>
          </a:prstGeom>
          <a:solidFill>
            <a:srgbClr val="121620"/>
          </a:solidFill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09344"/>
            <a:ext cx="222199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5B34A"/>
                </a:solidFill>
                <a:latin typeface="Calibri"/>
              </a:rPr>
              <a:t>SURGE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E5E7EB"/>
                </a:solidFill>
                <a:latin typeface="Calibri"/>
              </a:rPr>
              <a:t>Rate &gt; 2.5× base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→ Cap at 2.5× or add value to justify the premium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9856" y="1463040"/>
            <a:ext cx="2587752" cy="1828800"/>
          </a:xfrm>
          <a:prstGeom prst="roundRect">
            <a:avLst>
              <a:gd name="adj" fmla="val 6000"/>
            </a:avLst>
          </a:prstGeom>
          <a:solidFill>
            <a:srgbClr val="121620"/>
          </a:solidFill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2736" y="1609344"/>
            <a:ext cx="222199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5B34A"/>
                </a:solidFill>
                <a:latin typeface="Calibri"/>
              </a:rPr>
              <a:t>BELOW COST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E5E7EB"/>
                </a:solidFill>
                <a:latin typeface="Calibri"/>
              </a:rPr>
              <a:t>Rate &lt; ₹1,200 cost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→ Hold at the cost floor, accept lower occupancy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2587752" cy="1828800"/>
          </a:xfrm>
          <a:prstGeom prst="roundRect">
            <a:avLst>
              <a:gd name="adj" fmla="val 6000"/>
            </a:avLst>
          </a:prstGeom>
          <a:solidFill>
            <a:srgbClr val="121620"/>
          </a:solidFill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609344"/>
            <a:ext cx="222199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5B34A"/>
                </a:solidFill>
                <a:latin typeface="Calibri"/>
              </a:rPr>
              <a:t>FAIRNESS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E5E7EB"/>
                </a:solidFill>
                <a:latin typeface="Calibri"/>
              </a:rPr>
              <a:t>Segment rates differ &gt;50%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→ Use fenced rates, not segment-based pricing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33104" y="1463040"/>
            <a:ext cx="2587752" cy="1828800"/>
          </a:xfrm>
          <a:prstGeom prst="roundRect">
            <a:avLst>
              <a:gd name="adj" fmla="val 6000"/>
            </a:avLst>
          </a:prstGeom>
          <a:solidFill>
            <a:srgbClr val="121620"/>
          </a:solidFill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15984" y="1609344"/>
            <a:ext cx="222199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5B34A"/>
                </a:solidFill>
                <a:latin typeface="Calibri"/>
              </a:rPr>
              <a:t>PARITY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E5E7EB"/>
                </a:solidFill>
                <a:latin typeface="Calibri"/>
              </a:rPr>
              <a:t>Rate &gt; 40% over competitor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→ Monitor pickup, step down in ₹250 increments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520440"/>
            <a:ext cx="5577840" cy="2331720"/>
          </a:xfrm>
          <a:prstGeom prst="roundRect">
            <a:avLst>
              <a:gd name="adj" fmla="val 6000"/>
            </a:avLst>
          </a:prstGeom>
          <a:solidFill>
            <a:srgbClr val="161C28"/>
          </a:solidFill>
          <a:ln w="12700">
            <a:solidFill>
              <a:srgbClr val="8A6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52120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2B859"/>
                </a:solidFill>
                <a:latin typeface="Calibri Light"/>
              </a:rPr>
              <a:t>Flag, do not block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The system never refuses to show a price. It shows the price, shows the flag, and leaves the call to a named human.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A hard block hides the trade-off the manager needs to see.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Accountability requires a decision-maker, not an algorithm.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3520440"/>
            <a:ext cx="4965192" cy="2331720"/>
          </a:xfrm>
          <a:prstGeom prst="roundRect">
            <a:avLst>
              <a:gd name="adj" fmla="val 6000"/>
            </a:avLst>
          </a:prstGeom>
          <a:solidFill>
            <a:srgbClr val="121620"/>
          </a:solidFill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3408" y="3685032"/>
            <a:ext cx="4562856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2B859"/>
                </a:solidFill>
                <a:latin typeface="Calibri"/>
              </a:rPr>
              <a:t>The audit log = the compliance answer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E5E7EB"/>
                </a:solidFill>
                <a:latin typeface="Calibri"/>
              </a:rPr>
              <a:t>Every flag is written to the database  </a:t>
            </a:r>
            <a:r>
              <a:rPr sz="1050" b="0" i="0">
                <a:solidFill>
                  <a:srgbClr val="94A3B8"/>
                </a:solidFill>
                <a:latin typeface="Calibri"/>
              </a:rPr>
              <a:t>with the rate, full scenario and a timestamp.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E5E7EB"/>
                </a:solidFill>
                <a:latin typeface="Calibri"/>
              </a:rPr>
              <a:t>Replayed newest-first  </a:t>
            </a:r>
            <a:r>
              <a:rPr sz="1050" b="0" i="0">
                <a:solidFill>
                  <a:srgbClr val="94A3B8"/>
                </a:solidFill>
                <a:latin typeface="Calibri"/>
              </a:rPr>
              <a:t>with running totals — “what did you warn me about, and when?” has a documented answer.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E5E7EB"/>
                </a:solidFill>
                <a:latin typeface="Calibri"/>
              </a:rPr>
              <a:t>Screen-only  </a:t>
            </a:r>
            <a:r>
              <a:rPr sz="1050" b="0" i="0">
                <a:solidFill>
                  <a:srgbClr val="94A3B8"/>
                </a:solidFill>
                <a:latin typeface="Calibri"/>
              </a:rPr>
              <a:t>deliberately excluded from the printable strategy sheet.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419088"/>
            <a:ext cx="10744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64748B"/>
                </a:solidFill>
                <a:latin typeface="Calibri"/>
              </a:rPr>
              <a:t>The Grand Horizon Palace · AI Dynamic Pricing &amp; Revenue Management Simulator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384048"/>
          </a:xfrm>
          <a:prstGeom prst="rect">
            <a:avLst/>
          </a:prstGeom>
          <a:solidFill>
            <a:srgbClr val="E2B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2B859"/>
                </a:solidFill>
                <a:latin typeface="Calibri"/>
              </a:rPr>
              <a:t>EXPLANATION &amp; DELIVERY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E5E7EB"/>
                </a:solidFill>
                <a:latin typeface="Calibri Light"/>
              </a:rPr>
              <a:t>The AI layer + Presenter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572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onsolas"/>
              </a:rPr>
              <a:t>10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261872"/>
            <a:ext cx="10744200" cy="17780"/>
          </a:xfrm>
          <a:prstGeom prst="rect">
            <a:avLst/>
          </a:prstGeom>
          <a:solidFill>
            <a:srgbClr val="23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463040"/>
            <a:ext cx="5577840" cy="2286000"/>
          </a:xfrm>
          <a:prstGeom prst="roundRect">
            <a:avLst>
              <a:gd name="adj" fmla="val 6000"/>
            </a:avLst>
          </a:prstGeom>
          <a:solidFill>
            <a:srgbClr val="121620"/>
          </a:solidFill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5175504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2B859"/>
                </a:solidFill>
                <a:latin typeface="Calibri"/>
              </a:rPr>
              <a:t>Gemini 3 Flash explains the number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E5E7EB"/>
                </a:solidFill>
                <a:latin typeface="Calibri"/>
              </a:rPr>
              <a:t>Sent:  </a:t>
            </a:r>
            <a:r>
              <a:rPr sz="1050" b="0" i="0">
                <a:solidFill>
                  <a:srgbClr val="94A3B8"/>
                </a:solidFill>
                <a:latin typeface="Calibri"/>
              </a:rPr>
              <a:t>a compact numerical brief — scenario, recommendation, multipliers, Monte Carlo summary, flags. No free text, no guest data.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E5E7EB"/>
                </a:solidFill>
                <a:latin typeface="Calibri"/>
              </a:rPr>
              <a:t>Returns:  </a:t>
            </a:r>
            <a:r>
              <a:rPr sz="1050" b="0" i="0">
                <a:solidFill>
                  <a:srgbClr val="94A3B8"/>
                </a:solidFill>
                <a:latin typeface="Calibri"/>
              </a:rPr>
              <a:t>Why this price · three specific risks · an alternative strategy — as a senior RM would brief the room.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886200"/>
            <a:ext cx="5577840" cy="2103120"/>
          </a:xfrm>
          <a:prstGeom prst="roundRect">
            <a:avLst>
              <a:gd name="adj" fmla="val 6000"/>
            </a:avLst>
          </a:prstGeom>
          <a:solidFill>
            <a:srgbClr val="121620"/>
          </a:solidFill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50792"/>
            <a:ext cx="5175504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2B859"/>
                </a:solidFill>
                <a:latin typeface="Calibri"/>
              </a:rPr>
              <a:t>Three decisions that matter live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E5E7EB"/>
                </a:solidFill>
                <a:latin typeface="Calibri"/>
              </a:rPr>
              <a:t>Caching  </a:t>
            </a:r>
            <a:r>
              <a:rPr sz="1050" b="0" i="0">
                <a:solidFill>
                  <a:srgbClr val="94A3B8"/>
                </a:solidFill>
                <a:latin typeface="Calibri"/>
              </a:rPr>
              <a:t>same scenario returns instantly, no re-spend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E5E7EB"/>
                </a:solidFill>
                <a:latin typeface="Calibri"/>
              </a:rPr>
              <a:t>Streaming reveal  </a:t>
            </a:r>
            <a:r>
              <a:rPr sz="1050" b="0" i="0">
                <a:solidFill>
                  <a:srgbClr val="94A3B8"/>
                </a:solidFill>
                <a:latin typeface="Calibri"/>
              </a:rPr>
              <a:t>word-by-word so the room reads at your pace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E5E7EB"/>
                </a:solidFill>
                <a:latin typeface="Calibri"/>
              </a:rPr>
              <a:t>Deterministic fallback  </a:t>
            </a:r>
            <a:r>
              <a:rPr sz="1050" b="0" i="0">
                <a:solidFill>
                  <a:srgbClr val="94A3B8"/>
                </a:solidFill>
                <a:latin typeface="Calibri"/>
              </a:rPr>
              <a:t>the panel is never blank if the network drops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463040"/>
            <a:ext cx="4965192" cy="2286000"/>
          </a:xfrm>
          <a:prstGeom prst="roundRect">
            <a:avLst>
              <a:gd name="adj" fmla="val 6000"/>
            </a:avLst>
          </a:prstGeom>
          <a:solidFill>
            <a:srgbClr val="121620"/>
          </a:solidFill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93408" y="1627632"/>
            <a:ext cx="4562856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2B859"/>
                </a:solidFill>
                <a:latin typeface="Calibri"/>
              </a:rPr>
              <a:t>Presenter Mode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E5E7EB"/>
                </a:solidFill>
                <a:latin typeface="Calibri"/>
              </a:rPr>
              <a:t>Three shock scenarios  </a:t>
            </a:r>
            <a:r>
              <a:rPr sz="1050" b="0" i="0">
                <a:solidFill>
                  <a:srgbClr val="94A3B8"/>
                </a:solidFill>
                <a:latin typeface="Calibri"/>
              </a:rPr>
              <a:t>20-second auto-advance, pause &amp; manual step, scripted narration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E5E7EB"/>
                </a:solidFill>
                <a:latin typeface="Calibri"/>
              </a:rPr>
              <a:t>Concert · Competitor −40% · Off-season  </a:t>
            </a:r>
            <a:r>
              <a:rPr sz="1050" b="0" i="0">
                <a:solidFill>
                  <a:srgbClr val="94A3B8"/>
                </a:solidFill>
                <a:latin typeface="Calibri"/>
              </a:rPr>
              <a:t>each with its own teaching point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E5E7EB"/>
                </a:solidFill>
                <a:latin typeface="Calibri"/>
              </a:rPr>
              <a:t>Zone spotlight  </a:t>
            </a:r>
            <a:r>
              <a:rPr sz="1050" b="0" i="0">
                <a:solidFill>
                  <a:srgbClr val="94A3B8"/>
                </a:solidFill>
                <a:latin typeface="Calibri"/>
              </a:rPr>
              <a:t>dims every panel except the one being discussed</a:t>
            </a:r>
          </a:p>
        </p:txBody>
      </p:sp>
      <p:pic>
        <p:nvPicPr>
          <p:cNvPr id="13" name="Picture 12" descr="doc_presenter_pric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886200"/>
            <a:ext cx="4965192" cy="27929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492240" y="3886200"/>
            <a:ext cx="4965192" cy="2792920"/>
          </a:xfrm>
          <a:prstGeom prst="rect">
            <a:avLst/>
          </a:prstGeom>
          <a:noFill/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6715696"/>
            <a:ext cx="49651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64748B"/>
                </a:solidFill>
                <a:latin typeface="Calibri"/>
              </a:rPr>
              <a:t>Presenter Mode: the recommendation spotlighted, the rest dimmed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419088"/>
            <a:ext cx="10744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64748B"/>
                </a:solidFill>
                <a:latin typeface="Calibri"/>
              </a:rPr>
              <a:t>The Grand Horizon Palace · AI Dynamic Pricing &amp; Revenue Management Simulator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384048"/>
          </a:xfrm>
          <a:prstGeom prst="rect">
            <a:avLst/>
          </a:prstGeom>
          <a:solidFill>
            <a:srgbClr val="E2B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2B859"/>
                </a:solidFill>
                <a:latin typeface="Calibri"/>
              </a:rPr>
              <a:t>THE TEAM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E5E7EB"/>
                </a:solidFill>
                <a:latin typeface="Calibri Light"/>
              </a:rPr>
              <a:t>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572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onsolas"/>
              </a:rPr>
              <a:t>11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261872"/>
            <a:ext cx="10744200" cy="17780"/>
          </a:xfrm>
          <a:prstGeom prst="rect">
            <a:avLst/>
          </a:prstGeom>
          <a:solidFill>
            <a:srgbClr val="23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71600"/>
            <a:ext cx="10744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4A3B8"/>
                </a:solidFill>
                <a:latin typeface="Calibri"/>
              </a:rPr>
              <a:t>Eight members, one system — each owning a real part of the build.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74519"/>
            <a:ext cx="5285232" cy="1033271"/>
          </a:xfrm>
          <a:prstGeom prst="roundRect">
            <a:avLst>
              <a:gd name="adj" fmla="val 6000"/>
            </a:avLst>
          </a:prstGeom>
          <a:solidFill>
            <a:srgbClr val="121620"/>
          </a:solidFill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2130551"/>
            <a:ext cx="502920" cy="502920"/>
          </a:xfrm>
          <a:prstGeom prst="ellipse">
            <a:avLst/>
          </a:prstGeom>
          <a:solidFill>
            <a:srgbClr val="0B0E14"/>
          </a:solidFill>
          <a:ln w="15875">
            <a:solidFill>
              <a:srgbClr val="E2B8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i="0">
                <a:solidFill>
                  <a:srgbClr val="E2B859"/>
                </a:solidFill>
                <a:latin typeface="Calibri Ligh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1993391"/>
            <a:ext cx="4325112" cy="8503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E2B859"/>
                </a:solidFill>
                <a:latin typeface="Calibri"/>
              </a:rPr>
              <a:t>Member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E5E7EB"/>
                </a:solidFill>
                <a:latin typeface="Calibri"/>
              </a:rPr>
              <a:t>Pricing Optimizer &amp; Multiplier Chain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94A3B8"/>
                </a:solidFill>
                <a:latin typeface="Calibri"/>
              </a:rPr>
              <a:t>Seven-factor chain + bounded revenue-max 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74519"/>
            <a:ext cx="5285232" cy="1033271"/>
          </a:xfrm>
          <a:prstGeom prst="roundRect">
            <a:avLst>
              <a:gd name="adj" fmla="val 6000"/>
            </a:avLst>
          </a:prstGeom>
          <a:solidFill>
            <a:srgbClr val="121620"/>
          </a:solidFill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36792" y="2130551"/>
            <a:ext cx="502920" cy="502920"/>
          </a:xfrm>
          <a:prstGeom prst="ellipse">
            <a:avLst/>
          </a:prstGeom>
          <a:solidFill>
            <a:srgbClr val="0B0E14"/>
          </a:solidFill>
          <a:ln w="15875">
            <a:solidFill>
              <a:srgbClr val="E2B8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i="0">
                <a:solidFill>
                  <a:srgbClr val="E2B859"/>
                </a:solidFill>
                <a:latin typeface="Calibri Ligh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993391"/>
            <a:ext cx="4325112" cy="8503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E2B859"/>
                </a:solidFill>
                <a:latin typeface="Calibri"/>
              </a:rPr>
              <a:t>Member 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E5E7EB"/>
                </a:solidFill>
                <a:latin typeface="Calibri"/>
              </a:rPr>
              <a:t>Customer Demand Model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94A3B8"/>
                </a:solidFill>
                <a:latin typeface="Calibri"/>
              </a:rPr>
              <a:t>Two-segment logistic price-response &amp; reference price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035806"/>
            <a:ext cx="5285232" cy="1033271"/>
          </a:xfrm>
          <a:prstGeom prst="roundRect">
            <a:avLst>
              <a:gd name="adj" fmla="val 6000"/>
            </a:avLst>
          </a:prstGeom>
          <a:solidFill>
            <a:srgbClr val="121620"/>
          </a:solidFill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77824" y="3291838"/>
            <a:ext cx="502920" cy="502920"/>
          </a:xfrm>
          <a:prstGeom prst="ellipse">
            <a:avLst/>
          </a:prstGeom>
          <a:solidFill>
            <a:srgbClr val="0B0E14"/>
          </a:solidFill>
          <a:ln w="15875">
            <a:solidFill>
              <a:srgbClr val="E2B8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i="0">
                <a:solidFill>
                  <a:srgbClr val="E2B859"/>
                </a:solidFill>
                <a:latin typeface="Calibri Ligh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3154678"/>
            <a:ext cx="4325112" cy="8503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E2B859"/>
                </a:solidFill>
                <a:latin typeface="Calibri"/>
              </a:rPr>
              <a:t>Member 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E5E7EB"/>
                </a:solidFill>
                <a:latin typeface="Calibri"/>
              </a:rPr>
              <a:t>Monte Carlo Simulation Engine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94A3B8"/>
                </a:solidFill>
                <a:latin typeface="Calibri"/>
              </a:rPr>
              <a:t>500-run Poisson × binomial revenue distribution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035806"/>
            <a:ext cx="5285232" cy="1033271"/>
          </a:xfrm>
          <a:prstGeom prst="roundRect">
            <a:avLst>
              <a:gd name="adj" fmla="val 6000"/>
            </a:avLst>
          </a:prstGeom>
          <a:solidFill>
            <a:srgbClr val="121620"/>
          </a:solidFill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36792" y="3291838"/>
            <a:ext cx="502920" cy="502920"/>
          </a:xfrm>
          <a:prstGeom prst="ellipse">
            <a:avLst/>
          </a:prstGeom>
          <a:solidFill>
            <a:srgbClr val="0B0E14"/>
          </a:solidFill>
          <a:ln w="15875">
            <a:solidFill>
              <a:srgbClr val="E2B8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i="0">
                <a:solidFill>
                  <a:srgbClr val="E2B859"/>
                </a:solidFill>
                <a:latin typeface="Calibri Ligh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154678"/>
            <a:ext cx="4325112" cy="8503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E2B859"/>
                </a:solidFill>
                <a:latin typeface="Calibri"/>
              </a:rPr>
              <a:t>Member 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E5E7EB"/>
                </a:solidFill>
                <a:latin typeface="Calibri"/>
              </a:rPr>
              <a:t>Forecasting &amp; Booking Pace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94A3B8"/>
                </a:solidFill>
                <a:latin typeface="Calibri"/>
              </a:rPr>
              <a:t>14-day seeded forecast cone + pickup pace index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197093"/>
            <a:ext cx="5285232" cy="1033271"/>
          </a:xfrm>
          <a:prstGeom prst="roundRect">
            <a:avLst>
              <a:gd name="adj" fmla="val 6000"/>
            </a:avLst>
          </a:prstGeom>
          <a:solidFill>
            <a:srgbClr val="121620"/>
          </a:solidFill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" y="4453125"/>
            <a:ext cx="502920" cy="502920"/>
          </a:xfrm>
          <a:prstGeom prst="ellipse">
            <a:avLst/>
          </a:prstGeom>
          <a:solidFill>
            <a:srgbClr val="0B0E14"/>
          </a:solidFill>
          <a:ln w="15875">
            <a:solidFill>
              <a:srgbClr val="E2B8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i="0">
                <a:solidFill>
                  <a:srgbClr val="E2B859"/>
                </a:solidFill>
                <a:latin typeface="Calibri Light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6192" y="4315965"/>
            <a:ext cx="4325112" cy="8503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E2B859"/>
                </a:solidFill>
                <a:latin typeface="Calibri"/>
              </a:rPr>
              <a:t>Member 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E5E7EB"/>
                </a:solidFill>
                <a:latin typeface="Calibri"/>
              </a:rPr>
              <a:t>Ethical Guardrails &amp; Audit Log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94A3B8"/>
                </a:solidFill>
                <a:latin typeface="Calibri"/>
              </a:rPr>
              <a:t>Surge / cost / fairness / parity flags + compliance trail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197093"/>
            <a:ext cx="5285232" cy="1033271"/>
          </a:xfrm>
          <a:prstGeom prst="roundRect">
            <a:avLst>
              <a:gd name="adj" fmla="val 6000"/>
            </a:avLst>
          </a:prstGeom>
          <a:solidFill>
            <a:srgbClr val="121620"/>
          </a:solidFill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36792" y="4453125"/>
            <a:ext cx="502920" cy="502920"/>
          </a:xfrm>
          <a:prstGeom prst="ellipse">
            <a:avLst/>
          </a:prstGeom>
          <a:solidFill>
            <a:srgbClr val="0B0E14"/>
          </a:solidFill>
          <a:ln w="15875">
            <a:solidFill>
              <a:srgbClr val="E2B8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i="0">
                <a:solidFill>
                  <a:srgbClr val="E2B859"/>
                </a:solidFill>
                <a:latin typeface="Calibri Light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4315965"/>
            <a:ext cx="4325112" cy="8503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E2B859"/>
                </a:solidFill>
                <a:latin typeface="Calibri"/>
              </a:rPr>
              <a:t>Member 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E5E7EB"/>
                </a:solidFill>
                <a:latin typeface="Calibri"/>
              </a:rPr>
              <a:t>AI Explanation Layer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94A3B8"/>
                </a:solidFill>
                <a:latin typeface="Calibri"/>
              </a:rPr>
              <a:t>Gemini 3 Flash brief, caching, streaming &amp; fallback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358380"/>
            <a:ext cx="5285232" cy="1033271"/>
          </a:xfrm>
          <a:prstGeom prst="roundRect">
            <a:avLst>
              <a:gd name="adj" fmla="val 6000"/>
            </a:avLst>
          </a:prstGeom>
          <a:solidFill>
            <a:srgbClr val="121620"/>
          </a:solidFill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7824" y="5614412"/>
            <a:ext cx="502920" cy="502920"/>
          </a:xfrm>
          <a:prstGeom prst="ellipse">
            <a:avLst/>
          </a:prstGeom>
          <a:solidFill>
            <a:srgbClr val="0B0E14"/>
          </a:solidFill>
          <a:ln w="15875">
            <a:solidFill>
              <a:srgbClr val="E2B8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i="0">
                <a:solidFill>
                  <a:srgbClr val="E2B859"/>
                </a:solidFill>
                <a:latin typeface="Calibri Light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36192" y="5477252"/>
            <a:ext cx="4325112" cy="8503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E2B859"/>
                </a:solidFill>
                <a:latin typeface="Calibri"/>
              </a:rPr>
              <a:t>Member 7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E5E7EB"/>
                </a:solidFill>
                <a:latin typeface="Calibri"/>
              </a:rPr>
              <a:t>Frontend, UI &amp; Presenter Mode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94A3B8"/>
                </a:solidFill>
                <a:latin typeface="Calibri"/>
              </a:rPr>
              <a:t>React dashboard, zone spotlight, strategy sheet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5358380"/>
            <a:ext cx="5285232" cy="1033271"/>
          </a:xfrm>
          <a:prstGeom prst="roundRect">
            <a:avLst>
              <a:gd name="adj" fmla="val 6000"/>
            </a:avLst>
          </a:prstGeom>
          <a:solidFill>
            <a:srgbClr val="121620"/>
          </a:solidFill>
          <a:ln w="12700">
            <a:solidFill>
              <a:srgbClr val="23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5614412"/>
            <a:ext cx="502920" cy="502920"/>
          </a:xfrm>
          <a:prstGeom prst="ellipse">
            <a:avLst/>
          </a:prstGeom>
          <a:solidFill>
            <a:srgbClr val="0B0E14"/>
          </a:solidFill>
          <a:ln w="15875">
            <a:solidFill>
              <a:srgbClr val="E2B8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i="0">
                <a:solidFill>
                  <a:srgbClr val="E2B859"/>
                </a:solidFill>
                <a:latin typeface="Calibri Light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5477252"/>
            <a:ext cx="4325112" cy="8503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E2B859"/>
                </a:solidFill>
                <a:latin typeface="Calibri"/>
              </a:rPr>
              <a:t>Member 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E5E7EB"/>
                </a:solidFill>
                <a:latin typeface="Calibri"/>
              </a:rPr>
              <a:t>Documentation &amp; Project Report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94A3B8"/>
                </a:solidFill>
                <a:latin typeface="Calibri"/>
              </a:rPr>
              <a:t>Word report, this deck &amp; the demo script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6419088"/>
            <a:ext cx="10744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64748B"/>
                </a:solidFill>
                <a:latin typeface="Calibri"/>
              </a:rPr>
              <a:t>The Grand Horizon Palace · AI Dynamic Pricing &amp; Revenue Management Simulator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B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2B859"/>
                </a:solidFill>
                <a:latin typeface="Calibri"/>
              </a:rPr>
              <a:t>MBA (IT &amp; SYSTEMS) · REVENUE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10607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6000" b="1" i="0">
                <a:solidFill>
                  <a:srgbClr val="E5E7EB"/>
                </a:solidFill>
                <a:latin typeface="Calibri Light"/>
              </a:rPr>
              <a:t>Thank you.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977639"/>
            <a:ext cx="3108960" cy="38100"/>
          </a:xfrm>
          <a:prstGeom prst="rect">
            <a:avLst/>
          </a:prstGeom>
          <a:solidFill>
            <a:srgbClr val="E2B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25196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94A3B8"/>
                </a:solidFill>
                <a:latin typeface="Calibri"/>
              </a:rPr>
              <a:t>Questions, challenges and “what if we changed this slider?” are the point.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The Grand Horizon Palace, Mumbai · AI Dynamic Pricing &amp; Revenue Management Simulator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